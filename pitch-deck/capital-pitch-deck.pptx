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9"/>
  </p:normalViewPr>
  <p:slideViewPr>
    <p:cSldViewPr snapToGrid="0" snapToObjects="1">
      <p:cViewPr varScale="1">
        <p:scale>
          <a:sx n="58" d="100"/>
          <a:sy n="58" d="100"/>
        </p:scale>
        <p:origin x="208" y="2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>
                <a:solidFill>
                  <a:srgbClr val="141413"/>
                </a:solidFill>
                <a:latin typeface="Charter"/>
              </a:rPr>
              <a:t>Capital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8" y="3931920"/>
            <a:ext cx="9144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4206240"/>
            <a:ext cx="103601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dirty="0">
                <a:solidFill>
                  <a:srgbClr val="504E49"/>
                </a:solidFill>
                <a:latin typeface="Charter"/>
              </a:rPr>
              <a:t>An AI analyst that diligences deals at the speed of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6B6A64"/>
                </a:solidFill>
                <a:latin typeface="Charter"/>
              </a:rPr>
              <a:t>Kevin Sucasa  ·  January Capital x Lyra Hackathon ·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Charter"/>
              </a:rPr>
              <a:t>01  ·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36015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>
                <a:solidFill>
                  <a:srgbClr val="141413"/>
                </a:solidFill>
                <a:latin typeface="Charter"/>
              </a:rPr>
              <a:t>Diligence is where deal flow goes to die.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100584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3D3D3A"/>
                </a:solidFill>
                <a:latin typeface="Charter"/>
              </a:rPr>
              <a:t>An associate triaging a deal opens a deck, a data room, three news tabs and an Excel model. Notes scatter, claims lose their sources, and risks live in someone's head until the IC meeting. Funds screen 10,000+ deals a year — the bottleneck is not sourcing, it is the hours per deal turning a pile of documents into a memo anyone can defend.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Charter"/>
              </a:rPr>
              <a:t> - 02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Charter"/>
              </a:rPr>
              <a:t>02  · 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Charter"/>
              </a:rPr>
              <a:t>Drop in a deck. Get a cited memo. Four steps, minutes not days.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1965960"/>
            <a:ext cx="10058400" cy="0"/>
          </a:xfrm>
          <a:prstGeom prst="line">
            <a:avLst/>
          </a:prstGeom>
          <a:ln w="63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1B365D"/>
                </a:solidFill>
                <a:latin typeface="Char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Charter"/>
              </a:rPr>
              <a:t>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Charter"/>
              </a:rPr>
              <a:t>PDFs, data-room URLs, founder notes, or chat prompts. Parsed, hashed, deduped.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33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1B365D"/>
                </a:solidFill>
                <a:latin typeface="Charter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Charter"/>
              </a:rPr>
              <a:t>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Charter"/>
              </a:rPr>
              <a:t>GPT pulls excerpts, metrics, and claims — each insight pinned to its source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1B365D"/>
                </a:solidFill>
                <a:latin typeface="Char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Charter"/>
              </a:rP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Charter"/>
              </a:rPr>
              <a:t>A library of diligence checks runs every cycle. Verdict: pass, concern, or fail.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11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1B365D"/>
                </a:solidFill>
                <a:latin typeface="Charter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Charter"/>
              </a:rPr>
              <a:t>Memo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Charter"/>
              </a:rPr>
              <a:t>Thesis, upside, risks, recommendation — rendered live from the scored state.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Charter"/>
              </a:rPr>
              <a:t> - 03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Charter"/>
              </a:rPr>
              <a:t>03  ·  TECHNICAL DEPTH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9048" y="914400"/>
            <a:ext cx="0" cy="5303520"/>
          </a:xfrm>
          <a:prstGeom prst="line">
            <a:avLst/>
          </a:prstGeom>
          <a:ln w="12700">
            <a:solidFill>
              <a:srgbClr val="E8E6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97280" y="109728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504E49"/>
                </a:solidFill>
                <a:latin typeface="Charter"/>
              </a:rPr>
              <a:t>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Charter"/>
              </a:rPr>
              <a:t>Why it holds 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97280" y="2011680"/>
            <a:ext cx="10515600" cy="0"/>
          </a:xfrm>
          <a:prstGeom prst="line">
            <a:avLst/>
          </a:prstGeom>
          <a:ln w="63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97280" y="237744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6B6A64"/>
                </a:solidFill>
                <a:latin typeface="Charter"/>
              </a:rPr>
              <a:t>OpenAI Responses + web search + file 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6B6A64"/>
                </a:solidFill>
                <a:latin typeface="Charter"/>
              </a:rPr>
              <a:t>Effect-TS workflows, durable retries on every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6B6A64"/>
                </a:solidFill>
                <a:latin typeface="Charter"/>
              </a:rPr>
              <a:t>Postgres + Drizzle, content-hashed source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4632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6B6A64"/>
                </a:solidFill>
                <a:latin typeface="Charter"/>
              </a:rPr>
              <a:t>Per-check engine versioning, deterministic re-runs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3D3D3A"/>
                </a:solidFill>
                <a:latin typeface="Charter"/>
              </a:rPr>
              <a:t>Every claim cites the exact source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0040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3D3D3A"/>
                </a:solidFill>
                <a:latin typeface="Charter"/>
              </a:rPr>
              <a:t>Re-running on the same inputs yields the same memo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3D3D3A"/>
                </a:solidFill>
                <a:latin typeface="Charter"/>
              </a:rPr>
              <a:t>Overrides and rationales survive engine upgrades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84632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3D3D3A"/>
                </a:solidFill>
                <a:latin typeface="Charter"/>
              </a:rPr>
              <a:t>Adding a check is a definition file, not a model retrain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Charter"/>
              </a:rPr>
              <a:t> - 04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0" i="0">
                <a:solidFill>
                  <a:srgbClr val="141413"/>
                </a:solidFill>
                <a:latin typeface="Charter"/>
              </a:rPr>
              <a:t>Built for funds that screen thousands of deals a year.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8" y="1828800"/>
            <a:ext cx="914400" cy="0"/>
          </a:xfrm>
          <a:prstGeom prst="line">
            <a:avLst/>
          </a:prstGeom>
          <a:ln w="1270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2356" y="2743200"/>
            <a:ext cx="2560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Charter"/>
              </a:rPr>
              <a:t>10,000+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43891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Charter"/>
              </a:rPr>
              <a:t>Deals screened / fund /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6996" y="2743200"/>
            <a:ext cx="2560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Charter"/>
              </a:rPr>
              <a:t>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96996" y="43891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Charter"/>
              </a:rPr>
              <a:t>Associate time on repetitive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743200"/>
            <a:ext cx="2560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Charter"/>
              </a:rPr>
              <a:t>4 hrs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43891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Charter"/>
              </a:rPr>
              <a:t>Deck-to-memo on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2743200"/>
            <a:ext cx="2560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Charter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6276" y="43891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Charter"/>
              </a:rPr>
              <a:t>Verdicts traceable to source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 dirty="0">
                <a:solidFill>
                  <a:srgbClr val="141413"/>
                </a:solidFill>
                <a:latin typeface="Charter"/>
              </a:rPr>
              <a:t>Fewer tabs. </a:t>
            </a:r>
            <a:r>
              <a:rPr lang="en-AU" sz="4400" b="0" i="0" dirty="0">
                <a:solidFill>
                  <a:srgbClr val="141413"/>
                </a:solidFill>
                <a:latin typeface="Charter"/>
              </a:rPr>
              <a:t>Data rich </a:t>
            </a:r>
            <a:r>
              <a:rPr lang="en-AU" sz="4400" dirty="0">
                <a:solidFill>
                  <a:srgbClr val="141413"/>
                </a:solidFill>
                <a:latin typeface="Charter"/>
              </a:rPr>
              <a:t>memo</a:t>
            </a:r>
            <a:r>
              <a:rPr sz="4400" b="0" i="0" dirty="0">
                <a:solidFill>
                  <a:srgbClr val="141413"/>
                </a:solidFill>
                <a:latin typeface="Charter"/>
              </a:rPr>
              <a:t>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8" y="4114800"/>
            <a:ext cx="9144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4389120"/>
            <a:ext cx="1036015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dirty="0">
                <a:solidFill>
                  <a:srgbClr val="504E49"/>
                </a:solidFill>
                <a:latin typeface="Charter"/>
              </a:rPr>
              <a:t>Live</a:t>
            </a:r>
            <a:r>
              <a:rPr lang="en-AU" sz="1600" dirty="0">
                <a:solidFill>
                  <a:srgbClr val="504E49"/>
                </a:solidFill>
                <a:latin typeface="Charter"/>
              </a:rPr>
              <a:t> @</a:t>
            </a:r>
            <a:r>
              <a:rPr lang="en-AU" sz="1600" b="0" i="0" dirty="0">
                <a:solidFill>
                  <a:srgbClr val="504E49"/>
                </a:solidFill>
                <a:latin typeface="Charter"/>
              </a:rPr>
              <a:t> https://</a:t>
            </a:r>
            <a:r>
              <a:rPr lang="en-AU" sz="1600" b="0" i="0" dirty="0" err="1">
                <a:solidFill>
                  <a:srgbClr val="504E49"/>
                </a:solidFill>
                <a:latin typeface="Charter"/>
              </a:rPr>
              <a:t>capital.kndwin.dev</a:t>
            </a:r>
            <a:endParaRPr sz="1600" b="0" i="0" dirty="0">
              <a:solidFill>
                <a:srgbClr val="504E49"/>
              </a:solidFill>
              <a:latin typeface="Char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337</Words>
  <Application>Microsoft Macintosh PowerPoint</Application>
  <PresentationFormat>Custom</PresentationFormat>
  <Paragraphs>45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Charter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Cherelynn Olivo</cp:lastModifiedBy>
  <cp:revision>2</cp:revision>
  <dcterms:created xsi:type="dcterms:W3CDTF">2013-01-27T09:14:16Z</dcterms:created>
  <dcterms:modified xsi:type="dcterms:W3CDTF">2026-04-30T02:14:16Z</dcterms:modified>
  <cp:category/>
</cp:coreProperties>
</file>